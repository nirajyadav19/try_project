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65" r:id="rId6"/>
    <p:sldId id="264"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28" autoAdjust="0"/>
    <p:restoredTop sz="94660"/>
  </p:normalViewPr>
  <p:slideViewPr>
    <p:cSldViewPr snapToGrid="0">
      <p:cViewPr varScale="1">
        <p:scale>
          <a:sx n="115" d="100"/>
          <a:sy n="115" d="100"/>
        </p:scale>
        <p:origin x="9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66F55A6-2D24-43D5-9C35-049EFD8C36AA}"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286494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6F55A6-2D24-43D5-9C35-049EFD8C36AA}"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4084073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6F55A6-2D24-43D5-9C35-049EFD8C36AA}"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1044102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66F55A6-2D24-43D5-9C35-049EFD8C36AA}" type="datetimeFigureOut">
              <a:rPr lang="en-IN" smtClean="0"/>
              <a:t>25-09-2025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761548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66F55A6-2D24-43D5-9C35-049EFD8C36AA}" type="datetimeFigureOut">
              <a:rPr lang="en-IN" smtClean="0"/>
              <a:t>25-09-2025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1017787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66F55A6-2D24-43D5-9C35-049EFD8C36AA}" type="datetimeFigureOut">
              <a:rPr lang="en-IN" smtClean="0"/>
              <a:t>25-09-2025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3475156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6F55A6-2D24-43D5-9C35-049EFD8C36AA}" type="datetimeFigureOut">
              <a:rPr lang="en-IN" smtClean="0"/>
              <a:t>25-09-2025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4208591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6F55A6-2D24-43D5-9C35-049EFD8C36AA}" type="datetimeFigureOut">
              <a:rPr lang="en-IN" smtClean="0"/>
              <a:t>25-09-2025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197059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6F55A6-2D24-43D5-9C35-049EFD8C36AA}" type="datetimeFigureOut">
              <a:rPr lang="en-IN" smtClean="0"/>
              <a:t>25-09-2025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2132662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6F55A6-2D24-43D5-9C35-049EFD8C36AA}"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3627968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6F55A6-2D24-43D5-9C35-049EFD8C36AA}"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B94188-82AB-466F-8CB4-344D8654794A}" type="slidenum">
              <a:rPr lang="en-IN" smtClean="0"/>
              <a:t>‹#›</a:t>
            </a:fld>
            <a:endParaRPr lang="en-IN"/>
          </a:p>
        </p:txBody>
      </p:sp>
    </p:spTree>
    <p:extLst>
      <p:ext uri="{BB962C8B-B14F-4D97-AF65-F5344CB8AC3E}">
        <p14:creationId xmlns:p14="http://schemas.microsoft.com/office/powerpoint/2010/main" val="3785027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6F55A6-2D24-43D5-9C35-049EFD8C36AA}" type="datetimeFigureOut">
              <a:rPr lang="en-IN" smtClean="0"/>
              <a:t>25-09-2025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B94188-82AB-466F-8CB4-344D8654794A}" type="slidenum">
              <a:rPr lang="en-IN" smtClean="0"/>
              <a:t>‹#›</a:t>
            </a:fld>
            <a:endParaRPr lang="en-IN"/>
          </a:p>
        </p:txBody>
      </p:sp>
    </p:spTree>
    <p:extLst>
      <p:ext uri="{BB962C8B-B14F-4D97-AF65-F5344CB8AC3E}">
        <p14:creationId xmlns:p14="http://schemas.microsoft.com/office/powerpoint/2010/main" val="2649736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39977"/>
            <a:ext cx="9144000" cy="2387600"/>
          </a:xfrm>
        </p:spPr>
        <p:txBody>
          <a:bodyPr/>
          <a:lstStyle/>
          <a:p>
            <a:r>
              <a:rPr lang="en-US" b="1" i="1" dirty="0"/>
              <a:t>Submission Outcome Prediction </a:t>
            </a:r>
            <a:endParaRPr lang="en-IN" b="1" i="1" dirty="0"/>
          </a:p>
        </p:txBody>
      </p:sp>
      <p:sp>
        <p:nvSpPr>
          <p:cNvPr id="3" name="Subtitle 2"/>
          <p:cNvSpPr>
            <a:spLocks noGrp="1"/>
          </p:cNvSpPr>
          <p:nvPr>
            <p:ph type="subTitle" idx="1"/>
          </p:nvPr>
        </p:nvSpPr>
        <p:spPr>
          <a:xfrm>
            <a:off x="1524000" y="4015046"/>
            <a:ext cx="9144000" cy="1242753"/>
          </a:xfrm>
        </p:spPr>
        <p:txBody>
          <a:bodyPr/>
          <a:lstStyle/>
          <a:p>
            <a:r>
              <a:rPr lang="en-US" sz="1800" b="1" u="sng" dirty="0" smtClean="0"/>
              <a:t>Objective</a:t>
            </a:r>
          </a:p>
          <a:p>
            <a:r>
              <a:rPr lang="en-US" sz="1800" dirty="0" smtClean="0"/>
              <a:t>Predict a submission will end as </a:t>
            </a:r>
            <a:r>
              <a:rPr lang="en-US" sz="1800" b="1" dirty="0" smtClean="0"/>
              <a:t>Bound (1)</a:t>
            </a:r>
            <a:r>
              <a:rPr lang="en-US" sz="1800" dirty="0" smtClean="0"/>
              <a:t> or </a:t>
            </a:r>
            <a:r>
              <a:rPr lang="en-US" sz="1800" b="1" dirty="0" smtClean="0"/>
              <a:t>Not Bound (0)</a:t>
            </a:r>
            <a:endParaRPr lang="en-US" sz="1800" dirty="0" smtClean="0"/>
          </a:p>
          <a:p>
            <a:r>
              <a:rPr lang="en-US" sz="1800" dirty="0" smtClean="0"/>
              <a:t>Deliver a model + interpretability insights for integration</a:t>
            </a:r>
          </a:p>
          <a:p>
            <a:endParaRPr lang="en-IN" dirty="0"/>
          </a:p>
        </p:txBody>
      </p:sp>
    </p:spTree>
    <p:extLst>
      <p:ext uri="{BB962C8B-B14F-4D97-AF65-F5344CB8AC3E}">
        <p14:creationId xmlns:p14="http://schemas.microsoft.com/office/powerpoint/2010/main" val="3667398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0"/>
            <a:ext cx="10515600" cy="656706"/>
          </a:xfrm>
        </p:spPr>
        <p:txBody>
          <a:bodyPr>
            <a:noAutofit/>
          </a:bodyPr>
          <a:lstStyle/>
          <a:p>
            <a:pPr algn="ctr"/>
            <a:r>
              <a:rPr lang="en-IN" sz="2800" b="1" i="1" u="sng" dirty="0" smtClean="0"/>
              <a:t>Features &amp; Target Variable Overview</a:t>
            </a:r>
            <a:endParaRPr lang="en-IN" sz="2800" b="1" i="1" u="sng" dirty="0"/>
          </a:p>
        </p:txBody>
      </p:sp>
      <p:sp>
        <p:nvSpPr>
          <p:cNvPr id="3" name="Text Placeholder 2"/>
          <p:cNvSpPr>
            <a:spLocks noGrp="1"/>
          </p:cNvSpPr>
          <p:nvPr>
            <p:ph type="body" idx="1"/>
          </p:nvPr>
        </p:nvSpPr>
        <p:spPr>
          <a:xfrm>
            <a:off x="831850" y="947651"/>
            <a:ext cx="10515600" cy="5141999"/>
          </a:xfrm>
        </p:spPr>
        <p:txBody>
          <a:bodyPr>
            <a:normAutofit/>
          </a:bodyPr>
          <a:lstStyle/>
          <a:p>
            <a:r>
              <a:rPr lang="en-US" sz="1800" b="1" u="sng" dirty="0" smtClean="0">
                <a:solidFill>
                  <a:schemeClr val="tx1"/>
                </a:solidFill>
              </a:rPr>
              <a:t>List all features with brief description:</a:t>
            </a:r>
          </a:p>
          <a:p>
            <a:pPr marL="171450" indent="-171450">
              <a:buFont typeface="Arial" panose="020B0604020202020204" pitchFamily="34" charset="0"/>
              <a:buChar char="•"/>
            </a:pPr>
            <a:r>
              <a:rPr lang="en-US" sz="1400" dirty="0" smtClean="0">
                <a:solidFill>
                  <a:schemeClr val="tx1"/>
                </a:solidFill>
              </a:rPr>
              <a:t>LOB (line of business) – [‘</a:t>
            </a:r>
            <a:r>
              <a:rPr lang="en-IN" sz="1400" dirty="0" smtClean="0">
                <a:solidFill>
                  <a:schemeClr val="tx1"/>
                </a:solidFill>
              </a:rPr>
              <a:t>GL‘, 'PD‘, 'CL‘, </a:t>
            </a:r>
            <a:r>
              <a:rPr lang="en-IN" sz="1400" dirty="0">
                <a:solidFill>
                  <a:schemeClr val="tx1"/>
                </a:solidFill>
              </a:rPr>
              <a:t>'NT' </a:t>
            </a:r>
            <a:r>
              <a:rPr lang="en-IN" sz="1400" dirty="0" smtClean="0">
                <a:solidFill>
                  <a:schemeClr val="tx1"/>
                </a:solidFill>
              </a:rPr>
              <a:t>,‘TL‘ ,'OA‘  etc</a:t>
            </a:r>
            <a:r>
              <a:rPr lang="en-IN" sz="1400" dirty="0" smtClean="0"/>
              <a:t>.]</a:t>
            </a:r>
            <a:endParaRPr lang="en-US" sz="1400" dirty="0" smtClean="0">
              <a:solidFill>
                <a:schemeClr val="tx1"/>
              </a:solidFill>
            </a:endParaRPr>
          </a:p>
          <a:p>
            <a:pPr marL="171450" indent="-171450">
              <a:buFont typeface="Arial" panose="020B0604020202020204" pitchFamily="34" charset="0"/>
              <a:buChar char="•"/>
            </a:pPr>
            <a:r>
              <a:rPr lang="en-US" sz="1400" dirty="0" smtClean="0">
                <a:solidFill>
                  <a:schemeClr val="tx1"/>
                </a:solidFill>
              </a:rPr>
              <a:t>Broker ID – (broker’s unique id)</a:t>
            </a:r>
          </a:p>
          <a:p>
            <a:pPr marL="171450" indent="-171450">
              <a:buFont typeface="Arial" panose="020B0604020202020204" pitchFamily="34" charset="0"/>
              <a:buChar char="•"/>
            </a:pPr>
            <a:r>
              <a:rPr lang="en-US" sz="1400" dirty="0" smtClean="0">
                <a:solidFill>
                  <a:schemeClr val="tx1"/>
                </a:solidFill>
              </a:rPr>
              <a:t>hit ratio broker – ( total number </a:t>
            </a:r>
            <a:r>
              <a:rPr lang="en-US" sz="1400" dirty="0">
                <a:solidFill>
                  <a:schemeClr val="tx1"/>
                </a:solidFill>
              </a:rPr>
              <a:t> </a:t>
            </a:r>
            <a:r>
              <a:rPr lang="en-US" sz="1400" dirty="0" smtClean="0">
                <a:solidFill>
                  <a:schemeClr val="tx1"/>
                </a:solidFill>
              </a:rPr>
              <a:t>of bound policies of broker/ total number of submission by broker )</a:t>
            </a:r>
          </a:p>
          <a:p>
            <a:pPr marL="171450" indent="-171450">
              <a:buFont typeface="Arial" panose="020B0604020202020204" pitchFamily="34" charset="0"/>
              <a:buChar char="•"/>
            </a:pPr>
            <a:r>
              <a:rPr lang="en-US" sz="1400" dirty="0" smtClean="0">
                <a:solidFill>
                  <a:schemeClr val="tx1"/>
                </a:solidFill>
              </a:rPr>
              <a:t>Days Before Effective Date – ( effective date - submission date )</a:t>
            </a:r>
          </a:p>
          <a:p>
            <a:pPr marL="171450" indent="-171450">
              <a:buFont typeface="Arial" panose="020B0604020202020204" pitchFamily="34" charset="0"/>
              <a:buChar char="•"/>
            </a:pPr>
            <a:r>
              <a:rPr lang="en-US" sz="1400" dirty="0" smtClean="0">
                <a:solidFill>
                  <a:schemeClr val="tx1"/>
                </a:solidFill>
              </a:rPr>
              <a:t>Premium Size – (</a:t>
            </a:r>
            <a:r>
              <a:rPr lang="en-IN" sz="1400" dirty="0" smtClean="0">
                <a:solidFill>
                  <a:schemeClr val="tx1"/>
                </a:solidFill>
              </a:rPr>
              <a:t>Total insurance premium amount)</a:t>
            </a:r>
            <a:endParaRPr lang="en-US" sz="1400" dirty="0" smtClean="0">
              <a:solidFill>
                <a:schemeClr val="tx1"/>
              </a:solidFill>
            </a:endParaRPr>
          </a:p>
          <a:p>
            <a:pPr marL="171450" indent="-171450">
              <a:buFont typeface="Arial" panose="020B0604020202020204" pitchFamily="34" charset="0"/>
              <a:buChar char="•"/>
            </a:pPr>
            <a:r>
              <a:rPr lang="en-US" sz="1400" dirty="0" smtClean="0">
                <a:solidFill>
                  <a:schemeClr val="tx1"/>
                </a:solidFill>
              </a:rPr>
              <a:t>Broker Commission – (Payment to broker, usually % of premium)</a:t>
            </a:r>
          </a:p>
          <a:p>
            <a:pPr marL="171450" indent="-171450">
              <a:buFont typeface="Arial" panose="020B0604020202020204" pitchFamily="34" charset="0"/>
              <a:buChar char="•"/>
            </a:pPr>
            <a:r>
              <a:rPr lang="en-US" sz="1400" dirty="0" smtClean="0">
                <a:solidFill>
                  <a:schemeClr val="tx1"/>
                </a:solidFill>
              </a:rPr>
              <a:t>Underwriter Turnaround Time  - ( quote issued date – submission created date )</a:t>
            </a:r>
          </a:p>
          <a:p>
            <a:pPr marL="171450" indent="-171450">
              <a:buFont typeface="Arial" panose="020B0604020202020204" pitchFamily="34" charset="0"/>
              <a:buChar char="•"/>
            </a:pPr>
            <a:r>
              <a:rPr lang="en-US" sz="1400" dirty="0" smtClean="0">
                <a:solidFill>
                  <a:schemeClr val="tx1"/>
                </a:solidFill>
              </a:rPr>
              <a:t>New vs Renewal  - (Types of policy )</a:t>
            </a:r>
          </a:p>
          <a:p>
            <a:pPr marL="171450" indent="-171450">
              <a:buFont typeface="Arial" panose="020B0604020202020204" pitchFamily="34" charset="0"/>
              <a:buChar char="•"/>
            </a:pPr>
            <a:r>
              <a:rPr lang="en-US" sz="1400" dirty="0" smtClean="0">
                <a:solidFill>
                  <a:schemeClr val="tx1"/>
                </a:solidFill>
              </a:rPr>
              <a:t>Historical Submission Volume – (count of submission done in last 90 days by broker)</a:t>
            </a:r>
          </a:p>
          <a:p>
            <a:pPr marL="171450" indent="-171450">
              <a:buFont typeface="Arial" panose="020B0604020202020204" pitchFamily="34" charset="0"/>
              <a:buChar char="•"/>
            </a:pPr>
            <a:r>
              <a:rPr lang="en-US" sz="1400" dirty="0" smtClean="0">
                <a:solidFill>
                  <a:schemeClr val="tx1"/>
                </a:solidFill>
              </a:rPr>
              <a:t>Historical Bind Ratio  - (total number  of bound policies of broker/ total number of submission by broker in last 90 days by broker)</a:t>
            </a:r>
          </a:p>
          <a:p>
            <a:endParaRPr lang="en-US" sz="1100" dirty="0" smtClean="0">
              <a:solidFill>
                <a:schemeClr val="tx1"/>
              </a:solidFill>
            </a:endParaRPr>
          </a:p>
          <a:p>
            <a:r>
              <a:rPr lang="en-US" sz="1800" b="1" u="sng" dirty="0" smtClean="0">
                <a:solidFill>
                  <a:schemeClr val="tx1"/>
                </a:solidFill>
              </a:rPr>
              <a:t>Target Variable :</a:t>
            </a:r>
          </a:p>
          <a:p>
            <a:r>
              <a:rPr lang="en-US" sz="1400" dirty="0" smtClean="0">
                <a:solidFill>
                  <a:schemeClr val="tx1"/>
                </a:solidFill>
              </a:rPr>
              <a:t>1 = Bound (policy issued)</a:t>
            </a:r>
          </a:p>
          <a:p>
            <a:r>
              <a:rPr lang="en-US" sz="1400" dirty="0" smtClean="0">
                <a:solidFill>
                  <a:schemeClr val="tx1"/>
                </a:solidFill>
              </a:rPr>
              <a:t>0 = Not Bound (declined, withdrawn, unquoted)</a:t>
            </a:r>
          </a:p>
          <a:p>
            <a:endParaRPr lang="en-IN" sz="1100" dirty="0"/>
          </a:p>
        </p:txBody>
      </p:sp>
    </p:spTree>
    <p:extLst>
      <p:ext uri="{BB962C8B-B14F-4D97-AF65-F5344CB8AC3E}">
        <p14:creationId xmlns:p14="http://schemas.microsoft.com/office/powerpoint/2010/main" val="1265670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58190"/>
            <a:ext cx="10515600" cy="598515"/>
          </a:xfrm>
        </p:spPr>
        <p:txBody>
          <a:bodyPr>
            <a:noAutofit/>
          </a:bodyPr>
          <a:lstStyle/>
          <a:p>
            <a:r>
              <a:rPr lang="en-US" sz="2800" b="1" i="1" u="sng" dirty="0"/>
              <a:t>Preprocessing data &amp; model training</a:t>
            </a:r>
            <a:endParaRPr lang="en-IN" sz="2800" b="1" i="1" u="sng" dirty="0"/>
          </a:p>
        </p:txBody>
      </p:sp>
      <p:sp>
        <p:nvSpPr>
          <p:cNvPr id="3" name="Text Placeholder 2"/>
          <p:cNvSpPr>
            <a:spLocks noGrp="1"/>
          </p:cNvSpPr>
          <p:nvPr>
            <p:ph type="body" idx="1"/>
          </p:nvPr>
        </p:nvSpPr>
        <p:spPr>
          <a:xfrm>
            <a:off x="831850" y="756458"/>
            <a:ext cx="10515600" cy="5868786"/>
          </a:xfrm>
        </p:spPr>
        <p:txBody>
          <a:bodyPr>
            <a:normAutofit/>
          </a:bodyPr>
          <a:lstStyle/>
          <a:p>
            <a:r>
              <a:rPr lang="en-US" sz="1300" b="1" dirty="0" smtClean="0">
                <a:solidFill>
                  <a:schemeClr val="tx1"/>
                </a:solidFill>
              </a:rPr>
              <a:t>Data extraction :</a:t>
            </a:r>
          </a:p>
          <a:p>
            <a:r>
              <a:rPr lang="en-US" sz="1300" dirty="0" smtClean="0">
                <a:solidFill>
                  <a:schemeClr val="tx1"/>
                </a:solidFill>
              </a:rPr>
              <a:t>Extracted required data from </a:t>
            </a:r>
            <a:r>
              <a:rPr lang="en-US" sz="1300" dirty="0" err="1" smtClean="0">
                <a:solidFill>
                  <a:schemeClr val="tx1"/>
                </a:solidFill>
              </a:rPr>
              <a:t>NECSpecialty_EIReporting</a:t>
            </a:r>
            <a:r>
              <a:rPr lang="en-US" sz="1300" dirty="0" smtClean="0">
                <a:solidFill>
                  <a:schemeClr val="tx1"/>
                </a:solidFill>
              </a:rPr>
              <a:t> and </a:t>
            </a:r>
            <a:r>
              <a:rPr lang="en-US" sz="1300" dirty="0" err="1" smtClean="0">
                <a:solidFill>
                  <a:schemeClr val="tx1"/>
                </a:solidFill>
              </a:rPr>
              <a:t>Guardian_EIReporting</a:t>
            </a:r>
            <a:r>
              <a:rPr lang="en-US" sz="1300" dirty="0" smtClean="0">
                <a:solidFill>
                  <a:schemeClr val="tx1"/>
                </a:solidFill>
              </a:rPr>
              <a:t> </a:t>
            </a:r>
            <a:r>
              <a:rPr lang="en-US" sz="1300" dirty="0" err="1" smtClean="0">
                <a:solidFill>
                  <a:schemeClr val="tx1"/>
                </a:solidFill>
              </a:rPr>
              <a:t>datasbase</a:t>
            </a:r>
            <a:r>
              <a:rPr lang="en-US" sz="1300" dirty="0" smtClean="0">
                <a:solidFill>
                  <a:schemeClr val="tx1"/>
                </a:solidFill>
              </a:rPr>
              <a:t> , query used to </a:t>
            </a:r>
            <a:r>
              <a:rPr lang="en-US" sz="1300" dirty="0" err="1" smtClean="0">
                <a:solidFill>
                  <a:schemeClr val="tx1"/>
                </a:solidFill>
              </a:rPr>
              <a:t>featch</a:t>
            </a:r>
            <a:r>
              <a:rPr lang="en-US" sz="1300" dirty="0" smtClean="0">
                <a:solidFill>
                  <a:schemeClr val="tx1"/>
                </a:solidFill>
              </a:rPr>
              <a:t> data is shared in SQL query.docx file</a:t>
            </a:r>
          </a:p>
          <a:p>
            <a:r>
              <a:rPr lang="en-US" sz="1300" b="1" u="sng" dirty="0" smtClean="0">
                <a:solidFill>
                  <a:schemeClr val="tx1"/>
                </a:solidFill>
              </a:rPr>
              <a:t>Preprocessing and model training:</a:t>
            </a:r>
          </a:p>
          <a:p>
            <a:pPr marL="285750" indent="-285750">
              <a:buFont typeface="Courier New" panose="02070309020205020404" pitchFamily="49" charset="0"/>
              <a:buChar char="o"/>
            </a:pPr>
            <a:r>
              <a:rPr lang="en-US" sz="1300" b="1" dirty="0" smtClean="0">
                <a:solidFill>
                  <a:schemeClr val="tx1"/>
                </a:solidFill>
              </a:rPr>
              <a:t>Preprocessing overview </a:t>
            </a:r>
            <a:endParaRPr lang="en-US" sz="1300" b="1" dirty="0">
              <a:solidFill>
                <a:schemeClr val="tx1"/>
              </a:solidFill>
            </a:endParaRPr>
          </a:p>
          <a:p>
            <a:pPr marL="285750" indent="-285750">
              <a:buFont typeface="Arial" panose="020B0604020202020204" pitchFamily="34" charset="0"/>
              <a:buChar char="•"/>
            </a:pPr>
            <a:r>
              <a:rPr lang="en-US" sz="1300" b="1" dirty="0" smtClean="0">
                <a:solidFill>
                  <a:schemeClr val="tx1"/>
                </a:solidFill>
              </a:rPr>
              <a:t>Data cleaning:</a:t>
            </a:r>
          </a:p>
          <a:p>
            <a:pPr marL="342900" indent="-342900">
              <a:buAutoNum type="arabicPeriod"/>
            </a:pPr>
            <a:r>
              <a:rPr lang="en-US" sz="1300" dirty="0" smtClean="0">
                <a:solidFill>
                  <a:schemeClr val="tx1"/>
                </a:solidFill>
              </a:rPr>
              <a:t>Handled missing values in broker commission based on target class</a:t>
            </a:r>
          </a:p>
          <a:p>
            <a:pPr marL="342900" indent="-342900">
              <a:buAutoNum type="arabicPeriod"/>
            </a:pPr>
            <a:r>
              <a:rPr lang="en-US" sz="1300" dirty="0" smtClean="0">
                <a:solidFill>
                  <a:schemeClr val="tx1"/>
                </a:solidFill>
              </a:rPr>
              <a:t>Convert negative days before effective date to positive</a:t>
            </a:r>
          </a:p>
          <a:p>
            <a:pPr marL="342900" indent="-342900">
              <a:buAutoNum type="arabicPeriod"/>
            </a:pPr>
            <a:r>
              <a:rPr lang="en-US" sz="1300" dirty="0" smtClean="0">
                <a:solidFill>
                  <a:schemeClr val="tx1"/>
                </a:solidFill>
              </a:rPr>
              <a:t>Expanded multi-valued LOB entries into separate rows</a:t>
            </a:r>
          </a:p>
          <a:p>
            <a:pPr marL="285750" indent="-285750">
              <a:buFont typeface="Arial" panose="020B0604020202020204" pitchFamily="34" charset="0"/>
              <a:buChar char="•"/>
            </a:pPr>
            <a:r>
              <a:rPr lang="en-US" sz="1300" b="1" dirty="0" smtClean="0">
                <a:solidFill>
                  <a:schemeClr val="tx1"/>
                </a:solidFill>
              </a:rPr>
              <a:t>Feature Engineering:</a:t>
            </a:r>
          </a:p>
          <a:p>
            <a:pPr marL="342900" indent="-342900">
              <a:buAutoNum type="arabicPeriod"/>
            </a:pPr>
            <a:r>
              <a:rPr lang="en-US" sz="1300" dirty="0" smtClean="0">
                <a:solidFill>
                  <a:schemeClr val="tx1"/>
                </a:solidFill>
              </a:rPr>
              <a:t>Transform categorical features like (LOB , New VS Renewal ) by one-Hot Encoded</a:t>
            </a:r>
          </a:p>
          <a:p>
            <a:pPr marL="342900" indent="-342900">
              <a:buAutoNum type="arabicPeriod"/>
            </a:pPr>
            <a:r>
              <a:rPr lang="en-US" sz="1300" dirty="0" smtClean="0">
                <a:solidFill>
                  <a:schemeClr val="tx1"/>
                </a:solidFill>
              </a:rPr>
              <a:t>Numerical features transformed by using </a:t>
            </a:r>
            <a:r>
              <a:rPr lang="en-IN" sz="1300" dirty="0" err="1" smtClean="0">
                <a:solidFill>
                  <a:schemeClr val="tx1"/>
                </a:solidFill>
              </a:rPr>
              <a:t>StandardScaler</a:t>
            </a:r>
            <a:r>
              <a:rPr lang="en-US" sz="1300" dirty="0">
                <a:solidFill>
                  <a:schemeClr val="tx1"/>
                </a:solidFill>
              </a:rPr>
              <a:t> </a:t>
            </a:r>
            <a:endParaRPr lang="en-US" sz="1300" dirty="0" smtClean="0">
              <a:solidFill>
                <a:schemeClr val="tx1"/>
              </a:solidFill>
            </a:endParaRPr>
          </a:p>
          <a:p>
            <a:pPr marL="342900" indent="-342900">
              <a:buAutoNum type="arabicPeriod"/>
            </a:pPr>
            <a:r>
              <a:rPr lang="en-US" sz="1300" dirty="0" smtClean="0">
                <a:solidFill>
                  <a:schemeClr val="tx1"/>
                </a:solidFill>
              </a:rPr>
              <a:t>Passed some features without transformation (hit ratio broker , historical bind ratio )</a:t>
            </a:r>
          </a:p>
          <a:p>
            <a:pPr marL="285750" indent="-285750">
              <a:buFont typeface="Courier New" panose="02070309020205020404" pitchFamily="49" charset="0"/>
              <a:buChar char="o"/>
            </a:pPr>
            <a:r>
              <a:rPr lang="en-US" sz="1300" b="1" dirty="0" smtClean="0">
                <a:solidFill>
                  <a:schemeClr val="tx1"/>
                </a:solidFill>
              </a:rPr>
              <a:t>Model training overview </a:t>
            </a:r>
          </a:p>
          <a:p>
            <a:pPr marL="285750" indent="-285750">
              <a:buFont typeface="Arial" panose="020B0604020202020204" pitchFamily="34" charset="0"/>
              <a:buChar char="•"/>
            </a:pPr>
            <a:r>
              <a:rPr lang="en-US" sz="1300" dirty="0" smtClean="0">
                <a:solidFill>
                  <a:schemeClr val="tx1"/>
                </a:solidFill>
              </a:rPr>
              <a:t>Split data in 70 % for  training and 30 % for testing </a:t>
            </a:r>
          </a:p>
          <a:p>
            <a:pPr marL="285750" indent="-285750">
              <a:buFont typeface="Arial" panose="020B0604020202020204" pitchFamily="34" charset="0"/>
              <a:buChar char="•"/>
            </a:pPr>
            <a:r>
              <a:rPr lang="en-US" sz="1300" dirty="0" smtClean="0">
                <a:solidFill>
                  <a:schemeClr val="tx1"/>
                </a:solidFill>
              </a:rPr>
              <a:t>Balance target class of training data by smote to </a:t>
            </a:r>
            <a:r>
              <a:rPr lang="en-IN" sz="1300" dirty="0">
                <a:solidFill>
                  <a:schemeClr val="tx1"/>
                </a:solidFill>
              </a:rPr>
              <a:t>improve model performance</a:t>
            </a:r>
            <a:r>
              <a:rPr lang="en-IN" sz="1300" dirty="0" smtClean="0">
                <a:solidFill>
                  <a:schemeClr val="tx1"/>
                </a:solidFill>
              </a:rPr>
              <a:t>.</a:t>
            </a:r>
          </a:p>
          <a:p>
            <a:pPr marL="285750" indent="-285750">
              <a:buFont typeface="Arial" panose="020B0604020202020204" pitchFamily="34" charset="0"/>
              <a:buChar char="•"/>
            </a:pPr>
            <a:r>
              <a:rPr lang="en-US" sz="1300" dirty="0" smtClean="0">
                <a:solidFill>
                  <a:schemeClr val="tx1"/>
                </a:solidFill>
              </a:rPr>
              <a:t>Trained random forest ,</a:t>
            </a:r>
            <a:r>
              <a:rPr lang="en-US" sz="1300" dirty="0" err="1" smtClean="0">
                <a:solidFill>
                  <a:schemeClr val="tx1"/>
                </a:solidFill>
              </a:rPr>
              <a:t>XGBoost</a:t>
            </a:r>
            <a:r>
              <a:rPr lang="en-US" sz="1300" dirty="0" smtClean="0">
                <a:solidFill>
                  <a:schemeClr val="tx1"/>
                </a:solidFill>
              </a:rPr>
              <a:t> model and evaluate their performance by confusion matrix ,classification report and ROC-AUC </a:t>
            </a:r>
          </a:p>
          <a:p>
            <a:pPr marL="285750" indent="-285750">
              <a:buFont typeface="Arial" panose="020B0604020202020204" pitchFamily="34" charset="0"/>
              <a:buChar char="•"/>
            </a:pPr>
            <a:r>
              <a:rPr lang="en-US" sz="1300" dirty="0" smtClean="0">
                <a:solidFill>
                  <a:schemeClr val="tx1"/>
                </a:solidFill>
              </a:rPr>
              <a:t>Perform stratified K fold cross validation to check </a:t>
            </a:r>
            <a:r>
              <a:rPr lang="en-US" sz="1300" dirty="0">
                <a:solidFill>
                  <a:schemeClr val="tx1"/>
                </a:solidFill>
              </a:rPr>
              <a:t>model </a:t>
            </a:r>
            <a:r>
              <a:rPr lang="en-US" sz="1300" dirty="0" smtClean="0">
                <a:solidFill>
                  <a:schemeClr val="tx1"/>
                </a:solidFill>
              </a:rPr>
              <a:t>performs </a:t>
            </a:r>
            <a:r>
              <a:rPr lang="en-US" sz="1300" dirty="0">
                <a:solidFill>
                  <a:schemeClr val="tx1"/>
                </a:solidFill>
              </a:rPr>
              <a:t>on different splits of the data</a:t>
            </a:r>
            <a:r>
              <a:rPr lang="en-US" sz="1300" dirty="0" smtClean="0">
                <a:solidFill>
                  <a:schemeClr val="tx1"/>
                </a:solidFill>
              </a:rPr>
              <a:t>.</a:t>
            </a:r>
          </a:p>
          <a:p>
            <a:pPr marL="285750" indent="-285750">
              <a:buFont typeface="Arial" panose="020B0604020202020204" pitchFamily="34" charset="0"/>
              <a:buChar char="•"/>
            </a:pPr>
            <a:r>
              <a:rPr lang="en-US" sz="1300" dirty="0">
                <a:solidFill>
                  <a:schemeClr val="tx1"/>
                </a:solidFill>
              </a:rPr>
              <a:t>Trained a pipeline with a preprocessor and a </a:t>
            </a:r>
            <a:r>
              <a:rPr lang="en-US" sz="1300" dirty="0" smtClean="0">
                <a:solidFill>
                  <a:schemeClr val="tx1"/>
                </a:solidFill>
              </a:rPr>
              <a:t>model</a:t>
            </a:r>
            <a:r>
              <a:rPr lang="en-US" sz="1300" dirty="0">
                <a:solidFill>
                  <a:schemeClr val="tx1"/>
                </a:solidFill>
              </a:rPr>
              <a:t> </a:t>
            </a:r>
            <a:r>
              <a:rPr lang="en-US" sz="1300" dirty="0" smtClean="0">
                <a:solidFill>
                  <a:schemeClr val="tx1"/>
                </a:solidFill>
              </a:rPr>
              <a:t>and saved it as .</a:t>
            </a:r>
            <a:r>
              <a:rPr lang="en-US" sz="1300" dirty="0" err="1" smtClean="0">
                <a:solidFill>
                  <a:schemeClr val="tx1"/>
                </a:solidFill>
              </a:rPr>
              <a:t>pkl</a:t>
            </a:r>
            <a:r>
              <a:rPr lang="en-US" sz="1300" dirty="0" smtClean="0">
                <a:solidFill>
                  <a:schemeClr val="tx1"/>
                </a:solidFill>
              </a:rPr>
              <a:t> file </a:t>
            </a:r>
            <a:endParaRPr lang="en-US" sz="1300" dirty="0">
              <a:solidFill>
                <a:schemeClr val="tx1"/>
              </a:solidFill>
            </a:endParaRPr>
          </a:p>
        </p:txBody>
      </p:sp>
    </p:spTree>
    <p:extLst>
      <p:ext uri="{BB962C8B-B14F-4D97-AF65-F5344CB8AC3E}">
        <p14:creationId xmlns:p14="http://schemas.microsoft.com/office/powerpoint/2010/main" val="388060756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80196"/>
            <a:ext cx="10515600" cy="2852737"/>
          </a:xfrm>
        </p:spPr>
        <p:txBody>
          <a:bodyPr anchor="t">
            <a:noAutofit/>
          </a:bodyPr>
          <a:lstStyle/>
          <a:p>
            <a:r>
              <a:rPr lang="en-US" sz="1800" b="1" dirty="0">
                <a:latin typeface="+mn-lt"/>
                <a:ea typeface="+mn-ea"/>
                <a:cs typeface="+mn-cs"/>
              </a:rPr>
              <a:t>Test data Performance </a:t>
            </a:r>
            <a:r>
              <a:rPr lang="en-US" sz="1500" b="1" dirty="0" smtClean="0">
                <a:latin typeface="+mn-lt"/>
                <a:ea typeface="+mn-ea"/>
                <a:cs typeface="+mn-cs"/>
              </a:rPr>
              <a:t/>
            </a:r>
            <a:br>
              <a:rPr lang="en-US" sz="1500" b="1" dirty="0" smtClean="0">
                <a:latin typeface="+mn-lt"/>
                <a:ea typeface="+mn-ea"/>
                <a:cs typeface="+mn-cs"/>
              </a:rPr>
            </a:br>
            <a:r>
              <a:rPr lang="en-US" sz="1400" b="1" dirty="0" smtClean="0"/>
              <a:t/>
            </a:r>
            <a:br>
              <a:rPr lang="en-US" sz="1400" b="1" dirty="0" smtClean="0"/>
            </a:br>
            <a:r>
              <a:rPr lang="en-US" sz="1200" dirty="0">
                <a:latin typeface="+mn-lt"/>
                <a:ea typeface="+mn-ea"/>
                <a:cs typeface="+mn-cs"/>
              </a:rPr>
              <a:t>Both models achieved </a:t>
            </a:r>
            <a:r>
              <a:rPr lang="en-US" sz="1200" b="1" dirty="0">
                <a:latin typeface="+mn-lt"/>
                <a:ea typeface="+mn-ea"/>
                <a:cs typeface="+mn-cs"/>
              </a:rPr>
              <a:t>~ 99.9% </a:t>
            </a:r>
            <a:r>
              <a:rPr lang="en-US" sz="1200" dirty="0">
                <a:latin typeface="+mn-lt"/>
                <a:ea typeface="+mn-ea"/>
                <a:cs typeface="+mn-cs"/>
              </a:rPr>
              <a:t>accuracy</a:t>
            </a:r>
            <a:r>
              <a:rPr lang="en-US" sz="1300" dirty="0">
                <a:latin typeface="+mn-lt"/>
                <a:ea typeface="+mn-ea"/>
                <a:cs typeface="+mn-cs"/>
              </a:rPr>
              <a:t/>
            </a:r>
            <a:br>
              <a:rPr lang="en-US" sz="1300" dirty="0">
                <a:latin typeface="+mn-lt"/>
                <a:ea typeface="+mn-ea"/>
                <a:cs typeface="+mn-cs"/>
              </a:rPr>
            </a:br>
            <a:r>
              <a:rPr lang="en-US" sz="1500" u="sng" dirty="0">
                <a:latin typeface="+mn-lt"/>
                <a:ea typeface="+mn-ea"/>
                <a:cs typeface="+mn-cs"/>
              </a:rPr>
              <a:t>Random Forest</a:t>
            </a:r>
            <a:r>
              <a:rPr lang="en-US" sz="1500" u="sng" dirty="0" smtClean="0">
                <a:latin typeface="+mn-lt"/>
                <a:ea typeface="+mn-ea"/>
                <a:cs typeface="+mn-cs"/>
              </a:rPr>
              <a:t>:</a:t>
            </a:r>
            <a:r>
              <a:rPr lang="en-US" sz="1500" dirty="0">
                <a:latin typeface="+mn-lt"/>
                <a:ea typeface="+mn-ea"/>
                <a:cs typeface="+mn-cs"/>
              </a:rPr>
              <a:t/>
            </a:r>
            <a:br>
              <a:rPr lang="en-US" sz="1500" dirty="0">
                <a:latin typeface="+mn-lt"/>
                <a:ea typeface="+mn-ea"/>
                <a:cs typeface="+mn-cs"/>
              </a:rPr>
            </a:br>
            <a:r>
              <a:rPr lang="en-US" sz="1200" dirty="0">
                <a:latin typeface="+mn-lt"/>
                <a:ea typeface="+mn-ea"/>
                <a:cs typeface="+mn-cs"/>
              </a:rPr>
              <a:t>Confusion Matrix:</a:t>
            </a:r>
            <a:br>
              <a:rPr lang="en-US" sz="1200" dirty="0">
                <a:latin typeface="+mn-lt"/>
                <a:ea typeface="+mn-ea"/>
                <a:cs typeface="+mn-cs"/>
              </a:rPr>
            </a:br>
            <a:r>
              <a:rPr lang="en-US" sz="1200" dirty="0">
                <a:latin typeface="+mn-lt"/>
                <a:ea typeface="+mn-ea"/>
                <a:cs typeface="+mn-cs"/>
              </a:rPr>
              <a:t> [[29385    18]</a:t>
            </a:r>
            <a:br>
              <a:rPr lang="en-US" sz="1200" dirty="0">
                <a:latin typeface="+mn-lt"/>
                <a:ea typeface="+mn-ea"/>
                <a:cs typeface="+mn-cs"/>
              </a:rPr>
            </a:br>
            <a:r>
              <a:rPr lang="en-US" sz="1200" dirty="0">
                <a:latin typeface="+mn-lt"/>
                <a:ea typeface="+mn-ea"/>
                <a:cs typeface="+mn-cs"/>
              </a:rPr>
              <a:t> [  103  8520]]</a:t>
            </a:r>
            <a:br>
              <a:rPr lang="en-US" sz="1200" dirty="0">
                <a:latin typeface="+mn-lt"/>
                <a:ea typeface="+mn-ea"/>
                <a:cs typeface="+mn-cs"/>
              </a:rPr>
            </a:br>
            <a:r>
              <a:rPr lang="en-US" sz="1200" dirty="0">
                <a:latin typeface="+mn-lt"/>
                <a:ea typeface="+mn-ea"/>
                <a:cs typeface="+mn-cs"/>
              </a:rPr>
              <a:t>ROC-AUC Score for random forest model </a:t>
            </a:r>
            <a:r>
              <a:rPr lang="en-US" sz="1200" b="1" dirty="0">
                <a:latin typeface="+mn-lt"/>
                <a:ea typeface="+mn-ea"/>
                <a:cs typeface="+mn-cs"/>
              </a:rPr>
              <a:t>: 0.9937</a:t>
            </a:r>
            <a:r>
              <a:rPr lang="en-US" sz="1300" b="1" dirty="0">
                <a:latin typeface="+mn-lt"/>
                <a:ea typeface="+mn-ea"/>
                <a:cs typeface="+mn-cs"/>
              </a:rPr>
              <a:t/>
            </a:r>
            <a:br>
              <a:rPr lang="en-US" sz="1300" b="1" dirty="0">
                <a:latin typeface="+mn-lt"/>
                <a:ea typeface="+mn-ea"/>
                <a:cs typeface="+mn-cs"/>
              </a:rPr>
            </a:br>
            <a:r>
              <a:rPr lang="en-US" sz="1500" u="sng" dirty="0" err="1">
                <a:latin typeface="+mn-lt"/>
                <a:ea typeface="+mn-ea"/>
                <a:cs typeface="+mn-cs"/>
              </a:rPr>
              <a:t>XGBoost</a:t>
            </a:r>
            <a:r>
              <a:rPr lang="en-US" sz="1500" u="sng" dirty="0" smtClean="0">
                <a:latin typeface="+mn-lt"/>
                <a:ea typeface="+mn-ea"/>
                <a:cs typeface="+mn-cs"/>
              </a:rPr>
              <a:t>:</a:t>
            </a:r>
            <a:r>
              <a:rPr lang="en-US" sz="1500" dirty="0">
                <a:latin typeface="+mn-lt"/>
                <a:ea typeface="+mn-ea"/>
                <a:cs typeface="+mn-cs"/>
              </a:rPr>
              <a:t/>
            </a:r>
            <a:br>
              <a:rPr lang="en-US" sz="1500" dirty="0">
                <a:latin typeface="+mn-lt"/>
                <a:ea typeface="+mn-ea"/>
                <a:cs typeface="+mn-cs"/>
              </a:rPr>
            </a:br>
            <a:r>
              <a:rPr lang="en-US" sz="1200" dirty="0">
                <a:latin typeface="+mn-lt"/>
                <a:ea typeface="+mn-ea"/>
                <a:cs typeface="+mn-cs"/>
              </a:rPr>
              <a:t>Confusion Matrix:</a:t>
            </a:r>
            <a:br>
              <a:rPr lang="en-US" sz="1200" dirty="0">
                <a:latin typeface="+mn-lt"/>
                <a:ea typeface="+mn-ea"/>
                <a:cs typeface="+mn-cs"/>
              </a:rPr>
            </a:br>
            <a:r>
              <a:rPr lang="en-US" sz="1200" dirty="0">
                <a:latin typeface="+mn-lt"/>
                <a:ea typeface="+mn-ea"/>
                <a:cs typeface="+mn-cs"/>
              </a:rPr>
              <a:t> [[29381    22]</a:t>
            </a:r>
            <a:br>
              <a:rPr lang="en-US" sz="1200" dirty="0">
                <a:latin typeface="+mn-lt"/>
                <a:ea typeface="+mn-ea"/>
                <a:cs typeface="+mn-cs"/>
              </a:rPr>
            </a:br>
            <a:r>
              <a:rPr lang="en-US" sz="1200" dirty="0">
                <a:latin typeface="+mn-lt"/>
                <a:ea typeface="+mn-ea"/>
                <a:cs typeface="+mn-cs"/>
              </a:rPr>
              <a:t> [  96  8527]]</a:t>
            </a:r>
            <a:br>
              <a:rPr lang="en-US" sz="1200" dirty="0">
                <a:latin typeface="+mn-lt"/>
                <a:ea typeface="+mn-ea"/>
                <a:cs typeface="+mn-cs"/>
              </a:rPr>
            </a:br>
            <a:r>
              <a:rPr lang="en-US" sz="1200" dirty="0">
                <a:latin typeface="+mn-lt"/>
                <a:ea typeface="+mn-ea"/>
                <a:cs typeface="+mn-cs"/>
              </a:rPr>
              <a:t>ROC-AUC Score: 0.9968</a:t>
            </a:r>
            <a:r>
              <a:rPr lang="en-US" sz="1300" dirty="0">
                <a:latin typeface="+mn-lt"/>
                <a:ea typeface="+mn-ea"/>
                <a:cs typeface="+mn-cs"/>
              </a:rPr>
              <a:t/>
            </a:r>
            <a:br>
              <a:rPr lang="en-US" sz="1300" dirty="0">
                <a:latin typeface="+mn-lt"/>
                <a:ea typeface="+mn-ea"/>
                <a:cs typeface="+mn-cs"/>
              </a:rPr>
            </a:br>
            <a:r>
              <a:rPr lang="en-US" sz="1500" u="sng" dirty="0">
                <a:latin typeface="+mn-lt"/>
                <a:ea typeface="+mn-ea"/>
                <a:cs typeface="+mn-cs"/>
              </a:rPr>
              <a:t>Classification Reports</a:t>
            </a:r>
            <a:r>
              <a:rPr lang="en-US" sz="1500" u="sng" dirty="0" smtClean="0">
                <a:latin typeface="+mn-lt"/>
                <a:ea typeface="+mn-ea"/>
                <a:cs typeface="+mn-cs"/>
              </a:rPr>
              <a:t>:</a:t>
            </a:r>
            <a:r>
              <a:rPr lang="en-US" sz="1500" dirty="0">
                <a:latin typeface="+mn-lt"/>
                <a:ea typeface="+mn-ea"/>
                <a:cs typeface="+mn-cs"/>
              </a:rPr>
              <a:t/>
            </a:r>
            <a:br>
              <a:rPr lang="en-US" sz="1500" dirty="0">
                <a:latin typeface="+mn-lt"/>
                <a:ea typeface="+mn-ea"/>
                <a:cs typeface="+mn-cs"/>
              </a:rPr>
            </a:br>
            <a:r>
              <a:rPr lang="en-US" sz="1200" dirty="0">
                <a:latin typeface="+mn-lt"/>
                <a:ea typeface="+mn-ea"/>
                <a:cs typeface="+mn-cs"/>
              </a:rPr>
              <a:t>Precision, Recall, and F1-score were all very high (≥0.99) for both classes</a:t>
            </a:r>
          </a:p>
        </p:txBody>
      </p:sp>
      <p:sp>
        <p:nvSpPr>
          <p:cNvPr id="3" name="Text Placeholder 2"/>
          <p:cNvSpPr>
            <a:spLocks noGrp="1"/>
          </p:cNvSpPr>
          <p:nvPr>
            <p:ph type="body" idx="1"/>
          </p:nvPr>
        </p:nvSpPr>
        <p:spPr>
          <a:xfrm>
            <a:off x="831850" y="3092335"/>
            <a:ext cx="10515600" cy="3290626"/>
          </a:xfrm>
        </p:spPr>
        <p:txBody>
          <a:bodyPr>
            <a:normAutofit lnSpcReduction="10000"/>
          </a:bodyPr>
          <a:lstStyle/>
          <a:p>
            <a:r>
              <a:rPr lang="en-US" sz="1800" b="1" dirty="0">
                <a:solidFill>
                  <a:schemeClr val="tx1"/>
                </a:solidFill>
              </a:rPr>
              <a:t>Stratified 5-Fold Cross-Validation</a:t>
            </a:r>
          </a:p>
          <a:p>
            <a:r>
              <a:rPr lang="en-US" sz="1800" dirty="0">
                <a:solidFill>
                  <a:schemeClr val="tx1"/>
                </a:solidFill>
              </a:rPr>
              <a:t>To ensure model generalization, we used Stratified K-Fold CV:</a:t>
            </a:r>
          </a:p>
          <a:p>
            <a:r>
              <a:rPr lang="en-US" sz="1800" u="sng" dirty="0">
                <a:solidFill>
                  <a:schemeClr val="tx1"/>
                </a:solidFill>
              </a:rPr>
              <a:t>Random Forest:</a:t>
            </a:r>
          </a:p>
          <a:p>
            <a:pPr lvl="1"/>
            <a:r>
              <a:rPr lang="en-US" sz="1400" dirty="0">
                <a:solidFill>
                  <a:schemeClr val="tx1"/>
                </a:solidFill>
              </a:rPr>
              <a:t>Mean Accuracy</a:t>
            </a:r>
            <a:r>
              <a:rPr lang="en-US" sz="1400" b="1" dirty="0">
                <a:solidFill>
                  <a:schemeClr val="tx1"/>
                </a:solidFill>
              </a:rPr>
              <a:t>: 99.68%</a:t>
            </a:r>
          </a:p>
          <a:p>
            <a:pPr lvl="1"/>
            <a:r>
              <a:rPr lang="en-US" sz="1400" dirty="0">
                <a:solidFill>
                  <a:schemeClr val="tx1"/>
                </a:solidFill>
              </a:rPr>
              <a:t>Accuracy Range: </a:t>
            </a:r>
            <a:r>
              <a:rPr lang="en-US" sz="1400" b="1" dirty="0">
                <a:solidFill>
                  <a:schemeClr val="tx1"/>
                </a:solidFill>
              </a:rPr>
              <a:t>99.62% – 99.72%</a:t>
            </a:r>
          </a:p>
          <a:p>
            <a:pPr lvl="1"/>
            <a:r>
              <a:rPr lang="en-US" sz="1400" dirty="0">
                <a:solidFill>
                  <a:schemeClr val="tx1"/>
                </a:solidFill>
              </a:rPr>
              <a:t>Std. Deviation: </a:t>
            </a:r>
            <a:r>
              <a:rPr lang="en-US" sz="1400" b="1" dirty="0">
                <a:solidFill>
                  <a:schemeClr val="tx1"/>
                </a:solidFill>
              </a:rPr>
              <a:t>±0.00047</a:t>
            </a:r>
          </a:p>
          <a:p>
            <a:r>
              <a:rPr lang="en-US" sz="1800" u="sng" dirty="0" err="1">
                <a:solidFill>
                  <a:schemeClr val="tx1"/>
                </a:solidFill>
              </a:rPr>
              <a:t>XGBoost</a:t>
            </a:r>
            <a:r>
              <a:rPr lang="en-US" sz="1800" u="sng" dirty="0">
                <a:solidFill>
                  <a:schemeClr val="tx1"/>
                </a:solidFill>
              </a:rPr>
              <a:t>:</a:t>
            </a:r>
          </a:p>
          <a:p>
            <a:pPr lvl="1"/>
            <a:r>
              <a:rPr lang="en-US" sz="1400" dirty="0">
                <a:solidFill>
                  <a:schemeClr val="tx1"/>
                </a:solidFill>
              </a:rPr>
              <a:t>Mean Accuracy: </a:t>
            </a:r>
            <a:r>
              <a:rPr lang="en-US" sz="1400" b="1" dirty="0">
                <a:solidFill>
                  <a:schemeClr val="tx1"/>
                </a:solidFill>
              </a:rPr>
              <a:t>99.70%</a:t>
            </a:r>
          </a:p>
          <a:p>
            <a:pPr lvl="1"/>
            <a:r>
              <a:rPr lang="en-US" sz="1400" dirty="0">
                <a:solidFill>
                  <a:schemeClr val="tx1"/>
                </a:solidFill>
              </a:rPr>
              <a:t>Accuracy Range: </a:t>
            </a:r>
            <a:r>
              <a:rPr lang="en-US" sz="1400" b="1" dirty="0">
                <a:solidFill>
                  <a:schemeClr val="tx1"/>
                </a:solidFill>
              </a:rPr>
              <a:t>99.65% – 99.76%</a:t>
            </a:r>
          </a:p>
          <a:p>
            <a:pPr lvl="1"/>
            <a:r>
              <a:rPr lang="en-US" sz="1400" dirty="0">
                <a:solidFill>
                  <a:schemeClr val="tx1"/>
                </a:solidFill>
              </a:rPr>
              <a:t>Std. Deviation: </a:t>
            </a:r>
            <a:r>
              <a:rPr lang="en-US" sz="1400" b="1" dirty="0">
                <a:solidFill>
                  <a:schemeClr val="tx1"/>
                </a:solidFill>
              </a:rPr>
              <a:t>±0.00047</a:t>
            </a:r>
          </a:p>
          <a:p>
            <a:r>
              <a:rPr lang="en-US" sz="1300" dirty="0">
                <a:solidFill>
                  <a:schemeClr val="tx1"/>
                </a:solidFill>
              </a:rPr>
              <a:t>These results indicate that both models are highly stable and consistently </a:t>
            </a:r>
            <a:r>
              <a:rPr lang="en-US" sz="1300" dirty="0" err="1">
                <a:solidFill>
                  <a:schemeClr val="tx1"/>
                </a:solidFill>
              </a:rPr>
              <a:t>performant</a:t>
            </a:r>
            <a:r>
              <a:rPr lang="en-US" sz="1300" dirty="0">
                <a:solidFill>
                  <a:schemeClr val="tx1"/>
                </a:solidFill>
              </a:rPr>
              <a:t> across different subsets of data.</a:t>
            </a:r>
          </a:p>
          <a:p>
            <a:endParaRPr lang="en-IN" dirty="0"/>
          </a:p>
        </p:txBody>
      </p:sp>
    </p:spTree>
    <p:extLst>
      <p:ext uri="{BB962C8B-B14F-4D97-AF65-F5344CB8AC3E}">
        <p14:creationId xmlns:p14="http://schemas.microsoft.com/office/powerpoint/2010/main" val="588704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174567"/>
            <a:ext cx="3932237" cy="987425"/>
          </a:xfrm>
        </p:spPr>
        <p:txBody>
          <a:bodyPr>
            <a:normAutofit/>
          </a:bodyPr>
          <a:lstStyle/>
          <a:p>
            <a:r>
              <a:rPr lang="en-US" sz="2800" b="1" dirty="0" smtClean="0"/>
              <a:t>Feature importance plot for random forest model </a:t>
            </a:r>
            <a:endParaRPr lang="en-IN" sz="2800" b="1" dirty="0"/>
          </a:p>
        </p:txBody>
      </p:sp>
      <p:sp>
        <p:nvSpPr>
          <p:cNvPr id="4" name="Text Placeholder 3"/>
          <p:cNvSpPr>
            <a:spLocks noGrp="1"/>
          </p:cNvSpPr>
          <p:nvPr>
            <p:ph type="body" sz="half" idx="2"/>
          </p:nvPr>
        </p:nvSpPr>
        <p:spPr>
          <a:xfrm>
            <a:off x="839787" y="1496290"/>
            <a:ext cx="3932237" cy="4364759"/>
          </a:xfrm>
        </p:spPr>
        <p:txBody>
          <a:bodyPr/>
          <a:lstStyle/>
          <a:p>
            <a:pPr marL="285750" indent="-285750">
              <a:buFont typeface="Arial" panose="020B0604020202020204" pitchFamily="34" charset="0"/>
              <a:buChar char="•"/>
            </a:pPr>
            <a:r>
              <a:rPr lang="en-US" dirty="0" smtClean="0"/>
              <a:t>Broker commission emerged as the most important feature driving the prediction of submission outcomes</a:t>
            </a:r>
          </a:p>
          <a:p>
            <a:pPr marL="285750" indent="-285750">
              <a:buFont typeface="Arial" panose="020B0604020202020204" pitchFamily="34" charset="0"/>
              <a:buChar char="•"/>
            </a:pPr>
            <a:r>
              <a:rPr lang="en-US" dirty="0" smtClean="0"/>
              <a:t>It has a significantly higher feature importance value compared to all other features</a:t>
            </a:r>
          </a:p>
          <a:p>
            <a:pPr marL="285750" indent="-285750">
              <a:buFont typeface="Arial" panose="020B0604020202020204" pitchFamily="34" charset="0"/>
              <a:buChar char="•"/>
            </a:pPr>
            <a:r>
              <a:rPr lang="en-US" dirty="0" smtClean="0"/>
              <a:t>Other key contributors include:</a:t>
            </a:r>
            <a:endParaRPr lang="en-IN" dirty="0" smtClean="0"/>
          </a:p>
          <a:p>
            <a:pPr marL="285750" indent="-285750">
              <a:buFont typeface="Courier New" panose="02070309020205020404" pitchFamily="49" charset="0"/>
              <a:buChar char="o"/>
            </a:pPr>
            <a:r>
              <a:rPr lang="en-US" dirty="0" smtClean="0"/>
              <a:t>Underwriter turnaround time </a:t>
            </a:r>
          </a:p>
          <a:p>
            <a:pPr marL="285750" indent="-285750">
              <a:buFont typeface="Courier New" panose="02070309020205020404" pitchFamily="49" charset="0"/>
              <a:buChar char="o"/>
            </a:pPr>
            <a:r>
              <a:rPr lang="en-US" dirty="0" smtClean="0"/>
              <a:t>Hit ratio of broker </a:t>
            </a:r>
          </a:p>
          <a:p>
            <a:pPr marL="285750" indent="-285750">
              <a:buFont typeface="Courier New" panose="02070309020205020404" pitchFamily="49" charset="0"/>
              <a:buChar char="o"/>
            </a:pPr>
            <a:r>
              <a:rPr lang="en-US" dirty="0" smtClean="0"/>
              <a:t>Historical bind ratio </a:t>
            </a:r>
            <a:endParaRPr lang="en-US" dirty="0" smtClean="0"/>
          </a:p>
          <a:p>
            <a:pPr marL="285750" indent="-285750">
              <a:buFont typeface="Courier New" panose="02070309020205020404" pitchFamily="49" charset="0"/>
              <a:buChar char="o"/>
            </a:pPr>
            <a:r>
              <a:rPr lang="en-US" dirty="0" smtClean="0"/>
              <a:t>Historical submission volume </a:t>
            </a:r>
          </a:p>
          <a:p>
            <a:pPr marL="285750" indent="-285750">
              <a:buFont typeface="Courier New" panose="02070309020205020404" pitchFamily="49" charset="0"/>
              <a:buChar char="o"/>
            </a:pPr>
            <a:r>
              <a:rPr lang="en-US" dirty="0" smtClean="0"/>
              <a:t>Days before effective date</a:t>
            </a:r>
            <a:endParaRPr lang="en-US" dirty="0" smtClean="0"/>
          </a:p>
          <a:p>
            <a:pPr marL="285750" indent="-285750">
              <a:buFont typeface="Arial" panose="020B0604020202020204" pitchFamily="34" charset="0"/>
              <a:buChar char="•"/>
            </a:pPr>
            <a:r>
              <a:rPr lang="en-US" dirty="0" smtClean="0"/>
              <a:t>The model strongly relies on broker related features for accurate prediction </a:t>
            </a:r>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183188" y="1881187"/>
            <a:ext cx="6172200" cy="3086100"/>
          </a:xfrm>
        </p:spPr>
      </p:pic>
    </p:spTree>
    <p:extLst>
      <p:ext uri="{BB962C8B-B14F-4D97-AF65-F5344CB8AC3E}">
        <p14:creationId xmlns:p14="http://schemas.microsoft.com/office/powerpoint/2010/main" val="243289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199506"/>
            <a:ext cx="3932237" cy="987425"/>
          </a:xfrm>
        </p:spPr>
        <p:txBody>
          <a:bodyPr>
            <a:normAutofit/>
          </a:bodyPr>
          <a:lstStyle/>
          <a:p>
            <a:r>
              <a:rPr lang="en-US" sz="2800" b="1" dirty="0" smtClean="0"/>
              <a:t>Feature importance for </a:t>
            </a:r>
            <a:r>
              <a:rPr lang="en-US" sz="2800" b="1" dirty="0" err="1" smtClean="0"/>
              <a:t>XGBoost</a:t>
            </a:r>
            <a:r>
              <a:rPr lang="en-US" sz="2800" b="1" dirty="0" smtClean="0"/>
              <a:t> model </a:t>
            </a:r>
            <a:endParaRPr lang="en-IN" sz="28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572577"/>
            <a:ext cx="6172200" cy="37033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a:xfrm>
            <a:off x="839788" y="1572577"/>
            <a:ext cx="3932237" cy="4296411"/>
          </a:xfrm>
        </p:spPr>
        <p:txBody>
          <a:bodyPr>
            <a:normAutofit/>
          </a:bodyPr>
          <a:lstStyle/>
          <a:p>
            <a:pPr marL="285750" indent="-285750">
              <a:buFont typeface="Arial" panose="020B0604020202020204" pitchFamily="34" charset="0"/>
              <a:buChar char="•"/>
            </a:pPr>
            <a:r>
              <a:rPr lang="en-US" sz="1400" dirty="0"/>
              <a:t>Just like in the Random Forest model, Broker Commission is the most influential feature in predicting submission outcomes.</a:t>
            </a:r>
          </a:p>
          <a:p>
            <a:pPr marL="285750" indent="-285750">
              <a:buFont typeface="Arial" panose="020B0604020202020204" pitchFamily="34" charset="0"/>
              <a:buChar char="•"/>
            </a:pPr>
            <a:r>
              <a:rPr lang="en-US" sz="1400" dirty="0"/>
              <a:t>It has a dominant importance score, far exceeding all other features.</a:t>
            </a:r>
          </a:p>
          <a:p>
            <a:pPr marL="285750" indent="-285750">
              <a:buFont typeface="Arial" panose="020B0604020202020204" pitchFamily="34" charset="0"/>
              <a:buChar char="•"/>
            </a:pPr>
            <a:r>
              <a:rPr lang="en-US" sz="1400" dirty="0"/>
              <a:t>Additional features that contribute to predictions include:</a:t>
            </a:r>
          </a:p>
          <a:p>
            <a:r>
              <a:rPr lang="en-US" sz="1400" dirty="0"/>
              <a:t>Underwriter Turnaround Time</a:t>
            </a:r>
          </a:p>
          <a:p>
            <a:r>
              <a:rPr lang="en-US" sz="1400" dirty="0"/>
              <a:t>Days Before Effective Date</a:t>
            </a:r>
          </a:p>
          <a:p>
            <a:r>
              <a:rPr lang="en-US" sz="1400" dirty="0"/>
              <a:t>Premium Size</a:t>
            </a:r>
          </a:p>
          <a:p>
            <a:pPr marL="285750" indent="-285750">
              <a:buFont typeface="Arial" panose="020B0604020202020204" pitchFamily="34" charset="0"/>
              <a:buChar char="•"/>
            </a:pPr>
            <a:r>
              <a:rPr lang="en-US" sz="1400" dirty="0"/>
              <a:t>Compared to Broker Commission, these features show relatively low importance, indicating that the model heavily prioritizes commission-related data in its decisions.</a:t>
            </a:r>
          </a:p>
        </p:txBody>
      </p:sp>
    </p:spTree>
    <p:extLst>
      <p:ext uri="{BB962C8B-B14F-4D97-AF65-F5344CB8AC3E}">
        <p14:creationId xmlns:p14="http://schemas.microsoft.com/office/powerpoint/2010/main" val="154741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0"/>
            <a:ext cx="3932237" cy="1101484"/>
          </a:xfrm>
        </p:spPr>
        <p:txBody>
          <a:bodyPr>
            <a:normAutofit/>
          </a:bodyPr>
          <a:lstStyle/>
          <a:p>
            <a:r>
              <a:rPr lang="en-US" sz="2800" b="1" dirty="0" smtClean="0"/>
              <a:t>Waterfall plot for random forest model </a:t>
            </a:r>
            <a:endParaRPr lang="en-IN" sz="28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101484"/>
            <a:ext cx="6172200" cy="46455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a:xfrm>
            <a:off x="839788" y="1238597"/>
            <a:ext cx="3932237" cy="5419898"/>
          </a:xfrm>
        </p:spPr>
        <p:txBody>
          <a:bodyPr>
            <a:normAutofit fontScale="92500" lnSpcReduction="20000"/>
          </a:bodyPr>
          <a:lstStyle/>
          <a:p>
            <a:pPr marL="285750" indent="-285750">
              <a:buFont typeface="Arial" panose="020B0604020202020204" pitchFamily="34" charset="0"/>
              <a:buChar char="•"/>
            </a:pPr>
            <a:r>
              <a:rPr lang="en-US" dirty="0" smtClean="0"/>
              <a:t>The </a:t>
            </a:r>
            <a:r>
              <a:rPr lang="en-US" dirty="0" err="1" smtClean="0"/>
              <a:t>shap</a:t>
            </a:r>
            <a:r>
              <a:rPr lang="en-US" dirty="0" smtClean="0"/>
              <a:t> values </a:t>
            </a:r>
            <a:r>
              <a:rPr lang="en-US" dirty="0" err="1" smtClean="0"/>
              <a:t>expain</a:t>
            </a:r>
            <a:r>
              <a:rPr lang="en-US" dirty="0" smtClean="0"/>
              <a:t> how much each feature contributed to shift the models output from the base value</a:t>
            </a:r>
          </a:p>
          <a:p>
            <a:pPr marL="285750" indent="-285750">
              <a:buFont typeface="Arial" panose="020B0604020202020204" pitchFamily="34" charset="0"/>
              <a:buChar char="•"/>
            </a:pPr>
            <a:r>
              <a:rPr lang="en-US" dirty="0" smtClean="0"/>
              <a:t>The following features were found to have the strongest impact on the model’s predictions Broker commission ,hit ratio of broker ,days before effective date, underwriter turnaround time ,premium and historical submission volume </a:t>
            </a:r>
          </a:p>
          <a:p>
            <a:pPr marL="285750" indent="-285750">
              <a:buFont typeface="Arial" panose="020B0604020202020204" pitchFamily="34" charset="0"/>
              <a:buChar char="•"/>
            </a:pPr>
            <a:r>
              <a:rPr lang="en-US" dirty="0" smtClean="0"/>
              <a:t>Among all, Broker Commission stands out with the highest SHAP value, indicating it significantly influences whether a submission is predicted to bind.</a:t>
            </a:r>
          </a:p>
          <a:p>
            <a:pPr marL="285750" indent="-285750">
              <a:buFont typeface="Arial" panose="020B0604020202020204" pitchFamily="34" charset="0"/>
              <a:buChar char="•"/>
            </a:pPr>
            <a:r>
              <a:rPr lang="en-US" dirty="0" smtClean="0"/>
              <a:t>The base value (E[f(x)]) represents the model’s expected output before any feature values are considered is 0.773 </a:t>
            </a:r>
          </a:p>
          <a:p>
            <a:pPr marL="285750" indent="-285750">
              <a:buFont typeface="Arial" panose="020B0604020202020204" pitchFamily="34" charset="0"/>
              <a:buChar char="•"/>
            </a:pPr>
            <a:r>
              <a:rPr lang="en-US" dirty="0"/>
              <a:t>Broker Commission was the dominant factor, contributing over 85% of the total impact needed to reach a prediction of "Bound".</a:t>
            </a:r>
          </a:p>
          <a:p>
            <a:pPr marL="285750" indent="-285750">
              <a:buFont typeface="Arial" panose="020B0604020202020204" pitchFamily="34" charset="0"/>
              <a:buChar char="•"/>
            </a:pPr>
            <a:r>
              <a:rPr lang="en-US" dirty="0"/>
              <a:t>Other features such as Hit Ratio, Premium, and Submission Timing Metrics contributed incrementally, but had much less influence.</a:t>
            </a:r>
          </a:p>
          <a:p>
            <a:pPr marL="285750" indent="-285750">
              <a:buFont typeface="Arial" panose="020B0604020202020204" pitchFamily="34" charset="0"/>
              <a:buChar char="•"/>
            </a:pPr>
            <a:r>
              <a:rPr lang="en-US" dirty="0"/>
              <a:t>This illustrates the model's strong reliance on commission-related signals, affirming its critical role in driving submission outcomes.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289470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116378"/>
            <a:ext cx="3932237" cy="987425"/>
          </a:xfrm>
        </p:spPr>
        <p:txBody>
          <a:bodyPr>
            <a:normAutofit/>
          </a:bodyPr>
          <a:lstStyle/>
          <a:p>
            <a:r>
              <a:rPr lang="en-US" b="1" dirty="0" smtClean="0"/>
              <a:t>Waterfall plot for </a:t>
            </a:r>
            <a:r>
              <a:rPr lang="en-US" b="1" dirty="0" err="1" smtClean="0"/>
              <a:t>XGBoost</a:t>
            </a:r>
            <a:r>
              <a:rPr lang="en-US" b="1" dirty="0" smtClean="0"/>
              <a:t> model </a:t>
            </a:r>
            <a:r>
              <a:rPr lang="en-US" dirty="0" smtClean="0"/>
              <a:t> </a:t>
            </a:r>
            <a:endParaRPr lang="en-IN"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38483" y="1215931"/>
            <a:ext cx="6061610" cy="44166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a:xfrm>
            <a:off x="839787" y="1215931"/>
            <a:ext cx="3932237" cy="4796646"/>
          </a:xfrm>
        </p:spPr>
        <p:txBody>
          <a:bodyPr/>
          <a:lstStyle/>
          <a:p>
            <a:pPr marL="285750" indent="-285750">
              <a:buFont typeface="Arial" panose="020B0604020202020204" pitchFamily="34" charset="0"/>
              <a:buChar char="•"/>
            </a:pPr>
            <a:r>
              <a:rPr lang="en-US" sz="1500" dirty="0"/>
              <a:t>Broker Commission is the dominant feature, contributing over half of the total SHAP impact and strongly pushing the model to predict </a:t>
            </a:r>
          </a:p>
          <a:p>
            <a:pPr marL="285750" indent="-285750">
              <a:buFont typeface="Arial" panose="020B0604020202020204" pitchFamily="34" charset="0"/>
              <a:buChar char="•"/>
            </a:pPr>
            <a:r>
              <a:rPr lang="en-US" sz="1500" dirty="0"/>
              <a:t>Other features like Days Before Effective Date and Broker ID also have significant negative effects, reinforcing the rejection prediction.</a:t>
            </a:r>
          </a:p>
          <a:p>
            <a:pPr marL="285750" indent="-285750">
              <a:buFont typeface="Arial" panose="020B0604020202020204" pitchFamily="34" charset="0"/>
              <a:buChar char="•"/>
            </a:pPr>
            <a:r>
              <a:rPr lang="en-US" sz="1500" dirty="0"/>
              <a:t>Historical bind ratio, hit ratio, and submission volume features contribute moderate negative influence, indicating the model considers broker history as well.</a:t>
            </a:r>
          </a:p>
          <a:p>
            <a:pPr marL="285750" indent="-285750">
              <a:buFont typeface="Arial" panose="020B0604020202020204" pitchFamily="34" charset="0"/>
              <a:buChar char="•"/>
            </a:pPr>
            <a:r>
              <a:rPr lang="en-US" sz="1500" dirty="0"/>
              <a:t>This analysis highlights the model’s reliance on commission and broker-related metrics to differentiate binding outcomes</a:t>
            </a:r>
            <a:r>
              <a:rPr lang="en-US" dirty="0" smtClean="0"/>
              <a:t>.</a:t>
            </a:r>
            <a:endParaRPr lang="en-US" dirty="0"/>
          </a:p>
        </p:txBody>
      </p:sp>
    </p:spTree>
    <p:extLst>
      <p:ext uri="{BB962C8B-B14F-4D97-AF65-F5344CB8AC3E}">
        <p14:creationId xmlns:p14="http://schemas.microsoft.com/office/powerpoint/2010/main" val="3523301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271</TotalTime>
  <Words>809</Words>
  <Application>Microsoft Office PowerPoint</Application>
  <PresentationFormat>Widescreen</PresentationFormat>
  <Paragraphs>82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Courier New</vt:lpstr>
      <vt:lpstr>Office Theme</vt:lpstr>
      <vt:lpstr>Submission Outcome Prediction </vt:lpstr>
      <vt:lpstr>Features &amp; Target Variable Overview</vt:lpstr>
      <vt:lpstr>Preprocessing data &amp; model training</vt:lpstr>
      <vt:lpstr>Test data Performance   Both models achieved ~ 99.9% accuracy Random Forest: Confusion Matrix:  [[29385    18]  [  103  8520]] ROC-AUC Score for random forest model : 0.9937 XGBoost: Confusion Matrix:  [[29381    22]  [  96  8527]] ROC-AUC Score: 0.9968 Classification Reports: Precision, Recall, and F1-score were all very high (≥0.99) for both classes</vt:lpstr>
      <vt:lpstr>Feature importance plot for random forest model </vt:lpstr>
      <vt:lpstr>Feature importance for XGBoost model </vt:lpstr>
      <vt:lpstr>Waterfall plot for random forest model </vt:lpstr>
      <vt:lpstr>Waterfall plot for XGBoost model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Submission Outcome Prediction</dc:title>
  <dc:creator>IT-User</dc:creator>
  <cp:lastModifiedBy>IT-User</cp:lastModifiedBy>
  <cp:revision>23</cp:revision>
  <dcterms:created xsi:type="dcterms:W3CDTF">2025-09-24T09:32:06Z</dcterms:created>
  <dcterms:modified xsi:type="dcterms:W3CDTF">2025-09-25T11:12:00Z</dcterms:modified>
</cp:coreProperties>
</file>